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Urbanist Medium"/>
      <p:regular r:id="rId23"/>
      <p:bold r:id="rId24"/>
      <p:italic r:id="rId25"/>
      <p:boldItalic r:id="rId26"/>
    </p:embeddedFont>
    <p:embeddedFont>
      <p:font typeface="Urbanist SemiBold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rbanistMedium-bold.fntdata"/><Relationship Id="rId23" Type="http://schemas.openxmlformats.org/officeDocument/2006/relationships/font" Target="fonts/Urbanist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UrbanistMedium-boldItalic.fntdata"/><Relationship Id="rId25" Type="http://schemas.openxmlformats.org/officeDocument/2006/relationships/font" Target="fonts/UrbanistMedium-italic.fntdata"/><Relationship Id="rId28" Type="http://schemas.openxmlformats.org/officeDocument/2006/relationships/font" Target="fonts/UrbanistSemiBold-bold.fntdata"/><Relationship Id="rId27" Type="http://schemas.openxmlformats.org/officeDocument/2006/relationships/font" Target="fonts/Urbanist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1071d17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e1071d17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1071d17c3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e1071d17c3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1071d17c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1071d17c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1071d17c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e1071d17c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1071d17c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e1071d17c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e1071d17c3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e1071d17c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1071d17c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e1071d17c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1071d17c3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e1071d17c3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e1071d17c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e1071d17c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1071d17c3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e1071d17c3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e1071d17c3_0_1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e1071d17c3_0_1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e1071d17c3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e1071d17c3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e1071d17c3_0_1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e1071d17c3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1071d17c3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e1071d17c3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1071d17c3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e1071d17c3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1071d17c3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e1071d17c3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Final Project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3" name="Google Shape;483;p5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By Piyush &amp; Arnav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4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489" name="Google Shape;489;p54"/>
          <p:cNvSpPr txBox="1"/>
          <p:nvPr>
            <p:ph idx="1" type="body"/>
          </p:nvPr>
        </p:nvSpPr>
        <p:spPr>
          <a:xfrm>
            <a:off x="228600" y="1150825"/>
            <a:ext cx="5685000" cy="3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Research question: </a:t>
            </a:r>
            <a:r>
              <a:rPr i="1" lang="en" sz="2000">
                <a:latin typeface="Arial"/>
                <a:ea typeface="Arial"/>
                <a:cs typeface="Arial"/>
                <a:sym typeface="Arial"/>
              </a:rPr>
              <a:t>What helps a college basketball team be successful, and how does that translate to players being drafted into the NBA?</a:t>
            </a:r>
            <a:endParaRPr i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i="1" lang="en" sz="2000">
                <a:latin typeface="Arial"/>
                <a:ea typeface="Arial"/>
                <a:cs typeface="Arial"/>
                <a:sym typeface="Arial"/>
              </a:rPr>
              <a:t>Datasets: </a:t>
            </a:r>
            <a:endParaRPr i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i="1" lang="en" sz="2000">
                <a:latin typeface="Arial"/>
                <a:ea typeface="Arial"/>
                <a:cs typeface="Arial"/>
                <a:sym typeface="Arial"/>
              </a:rPr>
              <a:t>College basketball</a:t>
            </a:r>
            <a:endParaRPr i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i="1" lang="en" sz="2000">
                <a:latin typeface="Arial"/>
                <a:ea typeface="Arial"/>
                <a:cs typeface="Arial"/>
                <a:sym typeface="Arial"/>
              </a:rPr>
              <a:t>Nba/Draft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i="1" lang="en" sz="2000">
                <a:latin typeface="Arial"/>
                <a:ea typeface="Arial"/>
                <a:cs typeface="Arial"/>
                <a:sym typeface="Arial"/>
              </a:rPr>
              <a:t>International players</a:t>
            </a:r>
            <a:endParaRPr i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495" name="Google Shape;495;p55"/>
          <p:cNvSpPr txBox="1"/>
          <p:nvPr/>
        </p:nvSpPr>
        <p:spPr>
          <a:xfrm>
            <a:off x="408575" y="952775"/>
            <a:ext cx="7484700" cy="3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College sports culture stood out to us as international students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Personal interest in basketball and the NBA draft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Wanted to study how college team success connects to NBA player outcomes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International players helped us compare different paths into the NBA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6"/>
          <p:cNvSpPr txBox="1"/>
          <p:nvPr>
            <p:ph type="title"/>
          </p:nvPr>
        </p:nvSpPr>
        <p:spPr>
          <a:xfrm>
            <a:off x="228600" y="234750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College Basketball Dataset</a:t>
            </a:r>
            <a:endParaRPr/>
          </a:p>
        </p:txBody>
      </p:sp>
      <p:sp>
        <p:nvSpPr>
          <p:cNvPr id="501" name="Google Shape;501;p56"/>
          <p:cNvSpPr txBox="1"/>
          <p:nvPr/>
        </p:nvSpPr>
        <p:spPr>
          <a:xfrm>
            <a:off x="263950" y="1296275"/>
            <a:ext cx="45921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Source: Kaggle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Used to study team-level success across multiple seasons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Main variables: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W: total wins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ADJOE: offensive efficiency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ADJDE: defensive efficiency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WAB: wins above bubble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EFG_O: shooting efficiency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TOR: turnover rate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SEED: tournament seed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POSTSEASON: tournament result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7"/>
          <p:cNvSpPr txBox="1"/>
          <p:nvPr/>
        </p:nvSpPr>
        <p:spPr>
          <a:xfrm>
            <a:off x="489950" y="228600"/>
            <a:ext cx="37332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Key Team Success Stats</a:t>
            </a:r>
            <a:endParaRPr sz="2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57"/>
          <p:cNvSpPr txBox="1"/>
          <p:nvPr/>
        </p:nvSpPr>
        <p:spPr>
          <a:xfrm>
            <a:off x="354350" y="907575"/>
            <a:ext cx="34440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Offensive Efficiency (ADJOE)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Low Defensive Efficiency (ADJDE)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Shooting Efficiency (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EFG_O)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●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Low Turnover Rate (TOR)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●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Strong Wins Above Bubble (WAB)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08" name="Google Shape;50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950" y="161800"/>
            <a:ext cx="4440476" cy="229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788" y="2150274"/>
            <a:ext cx="4081519" cy="24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8"/>
          <p:cNvSpPr txBox="1"/>
          <p:nvPr>
            <p:ph idx="3" type="subTitle"/>
          </p:nvPr>
        </p:nvSpPr>
        <p:spPr>
          <a:xfrm flipH="1">
            <a:off x="4685766" y="4675975"/>
            <a:ext cx="16821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515" name="Google Shape;515;p58"/>
          <p:cNvSpPr txBox="1"/>
          <p:nvPr>
            <p:ph idx="4" type="subTitle"/>
          </p:nvPr>
        </p:nvSpPr>
        <p:spPr>
          <a:xfrm>
            <a:off x="7233500" y="4683725"/>
            <a:ext cx="16821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516" name="Google Shape;516;p58"/>
          <p:cNvSpPr txBox="1"/>
          <p:nvPr>
            <p:ph type="title"/>
          </p:nvPr>
        </p:nvSpPr>
        <p:spPr>
          <a:xfrm>
            <a:off x="403788" y="228600"/>
            <a:ext cx="83364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Translation to the NBA</a:t>
            </a:r>
            <a:endParaRPr/>
          </a:p>
        </p:txBody>
      </p:sp>
      <p:sp>
        <p:nvSpPr>
          <p:cNvPr id="517" name="Google Shape;517;p58"/>
          <p:cNvSpPr txBox="1"/>
          <p:nvPr>
            <p:ph idx="1" type="subTitle"/>
          </p:nvPr>
        </p:nvSpPr>
        <p:spPr>
          <a:xfrm>
            <a:off x="4524850" y="1244200"/>
            <a:ext cx="4390500" cy="272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Team success is not the only factor. 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NBA teams draft individual players, not teams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This is where Player data, NBA data  and Draft data becomes important.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8" name="Google Shape;518;p5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519" name="Google Shape;51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1244188"/>
            <a:ext cx="3516326" cy="26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9"/>
          <p:cNvSpPr txBox="1"/>
          <p:nvPr>
            <p:ph type="title"/>
          </p:nvPr>
        </p:nvSpPr>
        <p:spPr>
          <a:xfrm>
            <a:off x="228600" y="234750"/>
            <a:ext cx="4844400" cy="9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NBA/Draft Dataset</a:t>
            </a:r>
            <a:endParaRPr/>
          </a:p>
        </p:txBody>
      </p:sp>
      <p:sp>
        <p:nvSpPr>
          <p:cNvPr id="525" name="Google Shape;525;p59"/>
          <p:cNvSpPr txBox="1"/>
          <p:nvPr/>
        </p:nvSpPr>
        <p:spPr>
          <a:xfrm>
            <a:off x="263950" y="1296275"/>
            <a:ext cx="57255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Source: Kaggle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Used to study player-level draft outcomes and NBA performance.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Main variables: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player_name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college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draft_year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draft_round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draft_number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Avg points scored per game (pts)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Games played (gp)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Avg rebounds per game (reb)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Avg assists per game (ast)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531" name="Google Shape;531;p6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532" name="Google Shape;532;p60"/>
          <p:cNvSpPr txBox="1"/>
          <p:nvPr>
            <p:ph type="title"/>
          </p:nvPr>
        </p:nvSpPr>
        <p:spPr>
          <a:xfrm>
            <a:off x="152850" y="290450"/>
            <a:ext cx="8298900" cy="53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Draft Pick vs NBA Performance</a:t>
            </a:r>
            <a:endParaRPr sz="5800">
              <a:solidFill>
                <a:schemeClr val="lt1"/>
              </a:solidFill>
            </a:endParaRPr>
          </a:p>
        </p:txBody>
      </p:sp>
      <p:sp>
        <p:nvSpPr>
          <p:cNvPr id="533" name="Google Shape;533;p6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534" name="Google Shape;53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0" y="1278550"/>
            <a:ext cx="4030149" cy="294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050" y="1278550"/>
            <a:ext cx="4727199" cy="294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1"/>
          <p:cNvSpPr txBox="1"/>
          <p:nvPr/>
        </p:nvSpPr>
        <p:spPr>
          <a:xfrm>
            <a:off x="327225" y="247675"/>
            <a:ext cx="54690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College wins vs NBA Player Performance </a:t>
            </a:r>
            <a:endParaRPr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1" name="Google Shape;541;p61"/>
          <p:cNvSpPr txBox="1"/>
          <p:nvPr/>
        </p:nvSpPr>
        <p:spPr>
          <a:xfrm>
            <a:off x="462825" y="871400"/>
            <a:ext cx="79188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Round 1 players averaged more NBA points than Round 2 players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Picks 1–10 had the highest average points per game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NBA scoring generally decreases as draft pick number gets later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Early draft picks usually perform better, but there are exceptions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Player examples from our SQL results (not exceptions):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Karl-Anthony Towns, Kentucky (D1)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Zion Williamson, Duke (D1)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Jayson Tatum, Duke (D3)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Lonzo Ball, UCLA (D2)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De’Aaron Fox, Kentucky (D5)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42" name="Google Shape;54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251" y="2670270"/>
            <a:ext cx="4463376" cy="2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>
            <p:ph type="title"/>
          </p:nvPr>
        </p:nvSpPr>
        <p:spPr>
          <a:xfrm>
            <a:off x="666600" y="281625"/>
            <a:ext cx="84774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International Players</a:t>
            </a:r>
            <a:endParaRPr/>
          </a:p>
        </p:txBody>
      </p:sp>
      <p:sp>
        <p:nvSpPr>
          <p:cNvPr id="548" name="Google Shape;548;p62"/>
          <p:cNvSpPr txBox="1"/>
          <p:nvPr>
            <p:ph idx="1" type="subTitle"/>
          </p:nvPr>
        </p:nvSpPr>
        <p:spPr>
          <a:xfrm>
            <a:off x="105825" y="934150"/>
            <a:ext cx="3926400" cy="213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Number of International Players is increasing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 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Not just a  one country sport 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It's</a:t>
            </a:r>
            <a:r>
              <a:rPr lang="en" sz="1400">
                <a:solidFill>
                  <a:schemeClr val="dk2"/>
                </a:solidFill>
              </a:rPr>
              <a:t> not a sudden </a:t>
            </a:r>
            <a:r>
              <a:rPr lang="en" sz="1400">
                <a:solidFill>
                  <a:schemeClr val="dk2"/>
                </a:solidFill>
              </a:rPr>
              <a:t>change</a:t>
            </a:r>
            <a:r>
              <a:rPr lang="en" sz="1400">
                <a:solidFill>
                  <a:schemeClr val="dk2"/>
                </a:solidFill>
              </a:rPr>
              <a:t> but a gradual one 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549" name="Google Shape;54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800" y="1302075"/>
            <a:ext cx="4806973" cy="282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3"/>
          <p:cNvSpPr txBox="1"/>
          <p:nvPr>
            <p:ph type="title"/>
          </p:nvPr>
        </p:nvSpPr>
        <p:spPr>
          <a:xfrm>
            <a:off x="297150" y="393850"/>
            <a:ext cx="55323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International Statistics</a:t>
            </a:r>
            <a:endParaRPr/>
          </a:p>
        </p:txBody>
      </p:sp>
      <p:pic>
        <p:nvPicPr>
          <p:cNvPr id="555" name="Google Shape;55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25" y="1414400"/>
            <a:ext cx="4241274" cy="27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5050" y="1414400"/>
            <a:ext cx="4241276" cy="27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4"/>
          <p:cNvSpPr txBox="1"/>
          <p:nvPr>
            <p:ph type="title"/>
          </p:nvPr>
        </p:nvSpPr>
        <p:spPr>
          <a:xfrm>
            <a:off x="277500" y="228600"/>
            <a:ext cx="63123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International vs College Players</a:t>
            </a:r>
            <a:endParaRPr/>
          </a:p>
        </p:txBody>
      </p:sp>
      <p:sp>
        <p:nvSpPr>
          <p:cNvPr id="562" name="Google Shape;562;p64"/>
          <p:cNvSpPr txBox="1"/>
          <p:nvPr/>
        </p:nvSpPr>
        <p:spPr>
          <a:xfrm>
            <a:off x="771025" y="1351825"/>
            <a:ext cx="7943400" cy="3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American collegiate players still make up roughly 60% of players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drafted.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International Players being drafted is increasing at roughly 3% every year.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Colleges have started recruiting international players so that skews the data a little.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Nikola Jokić, Giannis Antetokounmpo , Luka Dončić, </a:t>
            </a:r>
            <a:r>
              <a:rPr lang="en" sz="1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Shai Gilgeous-Alexander,Victor Wembanyama and Joel Embiid to name a few.</a:t>
            </a:r>
            <a:endParaRPr sz="12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5"/>
          <p:cNvSpPr txBox="1"/>
          <p:nvPr>
            <p:ph type="title"/>
          </p:nvPr>
        </p:nvSpPr>
        <p:spPr>
          <a:xfrm>
            <a:off x="233850" y="369700"/>
            <a:ext cx="7269300" cy="64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Our Findings</a:t>
            </a:r>
            <a:endParaRPr sz="4200"/>
          </a:p>
        </p:txBody>
      </p:sp>
      <p:sp>
        <p:nvSpPr>
          <p:cNvPr id="568" name="Google Shape;568;p65"/>
          <p:cNvSpPr txBox="1"/>
          <p:nvPr>
            <p:ph idx="1" type="body"/>
          </p:nvPr>
        </p:nvSpPr>
        <p:spPr>
          <a:xfrm>
            <a:off x="233850" y="1161000"/>
            <a:ext cx="8481000" cy="28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College team success comes from efficiency, defense, shooting, and low turnovers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Strong teams can help players gain visibility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Postseason teams may help players get drafted slightly earlier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International players show college is not the only path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numbers do not tell the whole story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6"/>
          <p:cNvSpPr txBox="1"/>
          <p:nvPr>
            <p:ph type="title"/>
          </p:nvPr>
        </p:nvSpPr>
        <p:spPr>
          <a:xfrm>
            <a:off x="184500" y="352025"/>
            <a:ext cx="3904500" cy="615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Conclusion</a:t>
            </a:r>
            <a:endParaRPr sz="4300"/>
          </a:p>
        </p:txBody>
      </p:sp>
      <p:sp>
        <p:nvSpPr>
          <p:cNvPr id="574" name="Google Shape;574;p66"/>
          <p:cNvSpPr txBox="1"/>
          <p:nvPr>
            <p:ph idx="1" type="body"/>
          </p:nvPr>
        </p:nvSpPr>
        <p:spPr>
          <a:xfrm>
            <a:off x="233850" y="1275625"/>
            <a:ext cx="8428200" cy="30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College success helps create draft visibility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Strong team stats matter for winning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Draft position matters but does not guarantee NBA success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Player-level data is necessary because the NBA drafts individuals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 message: team context helps, but individual ability decides long-term NBA success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7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Bibliography: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0" name="Google Shape;580;p67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67"/>
          <p:cNvSpPr/>
          <p:nvPr/>
        </p:nvSpPr>
        <p:spPr>
          <a:xfrm>
            <a:off x="291675" y="1278275"/>
            <a:ext cx="8574900" cy="333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2" name="Google Shape;582;p67"/>
          <p:cNvSpPr txBox="1"/>
          <p:nvPr/>
        </p:nvSpPr>
        <p:spPr>
          <a:xfrm>
            <a:off x="344925" y="1331525"/>
            <a:ext cx="8468400" cy="3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NBA. (2020, December 20). </a:t>
            </a: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NBA rosters feature 107 international players from 41 countries | NBA.com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Www.nba.com. https://www.nba.com/news/nba-rosters-feature-107-international-players-from-41-countries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NBA Stats (1947-present)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(n.d.). Www.kaggle.com. https://www.kaggle.com/datasets/sumitrodatta/nba-aba-baa-stats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NCAA College Men’s Basketball DI Stats | NCAA.com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(n.d.). Www.ncaa.com. https://www.ncaa.com/stats/basketball-men/d1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release. (2025, October 21). </a:t>
            </a: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NBA rosters feature record 135 international players from record-tying 43 countries across six continents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NBA; NBA.com. https://www.nba.com/news/2025-26-international-players-opening-night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Powell, S. (2025, August 20). </a:t>
            </a: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international players with the best shot at winning Kia MVP in 2025-26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NBA; NBA.com. https://www.nba.com/news/5-international-players-best-chance-at-mvp-2025-26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Sundberg, A. (n.d.). </a:t>
            </a: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Basketball Dataset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Www.kaggle.com. https://www.kaggle.com/datasets/andrewsundberg/college-basketball-dataset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Wikipedia Contributors. (2026, February 28). </a:t>
            </a: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foreign NBA drafted players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Wikipedia; Wikimedia Foundation. https://en.wikipedia.org/wiki/List_of_foreign_NBA_drafted_players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8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8" name="Google Shape;588;p68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68"/>
          <p:cNvSpPr txBox="1"/>
          <p:nvPr/>
        </p:nvSpPr>
        <p:spPr>
          <a:xfrm>
            <a:off x="6309300" y="3096325"/>
            <a:ext cx="259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