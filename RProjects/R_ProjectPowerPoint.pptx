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62" r:id="rId6"/>
    <p:sldId id="265" r:id="rId7"/>
    <p:sldId id="263" r:id="rId8"/>
    <p:sldId id="268" r:id="rId9"/>
    <p:sldId id="264" r:id="rId10"/>
    <p:sldId id="266" r:id="rId11"/>
    <p:sldId id="267" r:id="rId12"/>
    <p:sldId id="269" r:id="rId13"/>
    <p:sldId id="25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nav Amit Khetan" initials="AK" lastIdx="1" clrIdx="0">
    <p:extLst>
      <p:ext uri="{19B8F6BF-5375-455C-9EA6-DF929625EA0E}">
        <p15:presenceInfo xmlns:p15="http://schemas.microsoft.com/office/powerpoint/2012/main" userId="12adb9ca0b6e21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F7AB-33FD-4E00-894C-DBF59F8E27C2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745-5775-4969-9763-2E200B3D10C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06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F7AB-33FD-4E00-894C-DBF59F8E27C2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745-5775-4969-9763-2E200B3D1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2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F7AB-33FD-4E00-894C-DBF59F8E27C2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745-5775-4969-9763-2E200B3D1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31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F7AB-33FD-4E00-894C-DBF59F8E27C2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745-5775-4969-9763-2E200B3D1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636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F7AB-33FD-4E00-894C-DBF59F8E27C2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745-5775-4969-9763-2E200B3D1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75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F7AB-33FD-4E00-894C-DBF59F8E27C2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745-5775-4969-9763-2E200B3D1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460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F7AB-33FD-4E00-894C-DBF59F8E27C2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745-5775-4969-9763-2E200B3D1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2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F7AB-33FD-4E00-894C-DBF59F8E27C2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745-5775-4969-9763-2E200B3D1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54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F7AB-33FD-4E00-894C-DBF59F8E27C2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745-5775-4969-9763-2E200B3D1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68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F7AB-33FD-4E00-894C-DBF59F8E27C2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745-5775-4969-9763-2E200B3D1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300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F7AB-33FD-4E00-894C-DBF59F8E27C2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745-5775-4969-9763-2E200B3D1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336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F7AB-33FD-4E00-894C-DBF59F8E27C2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745-5775-4969-9763-2E200B3D10C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3854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F7AB-33FD-4E00-894C-DBF59F8E27C2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745-5775-4969-9763-2E200B3D1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64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F7AB-33FD-4E00-894C-DBF59F8E27C2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745-5775-4969-9763-2E200B3D10C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72860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F7AB-33FD-4E00-894C-DBF59F8E27C2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745-5775-4969-9763-2E200B3D1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53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F7AB-33FD-4E00-894C-DBF59F8E27C2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745-5775-4969-9763-2E200B3D1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857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F7AB-33FD-4E00-894C-DBF59F8E27C2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6745-5775-4969-9763-2E200B3D1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84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4EEF7AB-33FD-4E00-894C-DBF59F8E27C2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5E16745-5775-4969-9763-2E200B3D1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80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7B3A4-9368-F80C-497B-DFF2EDA0E6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-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163616-99E8-D377-B93C-CE8B80EDC8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Arnav K.</a:t>
            </a:r>
          </a:p>
        </p:txBody>
      </p:sp>
    </p:spTree>
    <p:extLst>
      <p:ext uri="{BB962C8B-B14F-4D97-AF65-F5344CB8AC3E}">
        <p14:creationId xmlns:p14="http://schemas.microsoft.com/office/powerpoint/2010/main" val="1958661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C1264-C9C0-BF85-4C2C-D5D7BD3CF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0E080-E5E1-BBAE-92BB-8FB6780E7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799"/>
            <a:ext cx="9230754" cy="4406153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Machine Learning is an area of AI that empowers computers to learn from data and make decisions with minimal human intervention. </a:t>
            </a:r>
          </a:p>
          <a:p>
            <a:r>
              <a:rPr lang="en-US" sz="2800" dirty="0"/>
              <a:t>The AI learns over time from training datasets and applies its learnings to testing datasets.</a:t>
            </a:r>
          </a:p>
          <a:p>
            <a:r>
              <a:rPr lang="en-US" sz="2800" dirty="0"/>
              <a:t>It will learn by itself without using predefined equations. </a:t>
            </a:r>
          </a:p>
          <a:p>
            <a:r>
              <a:rPr lang="en-US" sz="2800" dirty="0"/>
              <a:t>ML is divided into 2 types: Supervised Learning &amp; Unsupervised Learning. </a:t>
            </a:r>
          </a:p>
        </p:txBody>
      </p:sp>
    </p:spTree>
    <p:extLst>
      <p:ext uri="{BB962C8B-B14F-4D97-AF65-F5344CB8AC3E}">
        <p14:creationId xmlns:p14="http://schemas.microsoft.com/office/powerpoint/2010/main" val="870337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D2B7C-8AA3-FD61-3219-5D8E273B6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3494" cy="1325563"/>
          </a:xfrm>
        </p:spPr>
        <p:txBody>
          <a:bodyPr/>
          <a:lstStyle/>
          <a:p>
            <a:r>
              <a:rPr lang="en-US" dirty="0"/>
              <a:t>Supervised Learning vs 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2FAA6-3887-CB5D-DC63-E6855FCE3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928" y="1690688"/>
            <a:ext cx="9508659" cy="4802187"/>
          </a:xfrm>
        </p:spPr>
        <p:txBody>
          <a:bodyPr>
            <a:normAutofit/>
          </a:bodyPr>
          <a:lstStyle/>
          <a:p>
            <a:r>
              <a:rPr lang="en-US" sz="2400" dirty="0"/>
              <a:t>Supervised Learning uses massive training data sets to train the AI. The data consists of all sorts of data from all categories and areas with a clearly defined label (variable). Used for classification. </a:t>
            </a:r>
          </a:p>
          <a:p>
            <a:r>
              <a:rPr lang="en-US" sz="2400" dirty="0"/>
              <a:t>Labeled means that the data will contain both the input and the output for the datapoints. So the AI will know the question and its corresponding answer while learning. </a:t>
            </a:r>
          </a:p>
          <a:p>
            <a:r>
              <a:rPr lang="en-US" sz="2400" dirty="0"/>
              <a:t>Unsupervised Learning uses the training data set but it will not have any defined variables so this kind of learning is used more in clustering and association. </a:t>
            </a:r>
          </a:p>
        </p:txBody>
      </p:sp>
    </p:spTree>
    <p:extLst>
      <p:ext uri="{BB962C8B-B14F-4D97-AF65-F5344CB8AC3E}">
        <p14:creationId xmlns:p14="http://schemas.microsoft.com/office/powerpoint/2010/main" val="3091845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73108-5BBA-5D79-52EF-B251FFA0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62B9C-9E2D-7F64-A1A5-51728901B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845270" cy="4083424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/>
              <a:t>Classification is a form of supervised learning. It refers to predicting a category or class for datapoints within a dataset. </a:t>
            </a:r>
          </a:p>
          <a:p>
            <a:r>
              <a:rPr lang="en-US" sz="2600" dirty="0"/>
              <a:t>It’s a discrete output and not a continuous one so logistic regression is used for this instead of linear regression. </a:t>
            </a:r>
          </a:p>
          <a:p>
            <a:r>
              <a:rPr lang="en-US" sz="2600" dirty="0"/>
              <a:t>For example – whether an email is spam or not, or a transaction is a scam or not. (Can have more than 2 categories)</a:t>
            </a:r>
          </a:p>
          <a:p>
            <a:r>
              <a:rPr lang="en-US" sz="2600" dirty="0"/>
              <a:t>Requires large labeled training data sets.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51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9599-54BA-6041-D6BF-2EE9DA753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682" y="5015254"/>
            <a:ext cx="8534400" cy="1507067"/>
          </a:xfrm>
        </p:spPr>
        <p:txBody>
          <a:bodyPr/>
          <a:lstStyle/>
          <a:p>
            <a:r>
              <a:rPr lang="en-US" dirty="0"/>
              <a:t>Types of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B0BFA-3AEC-6AC6-98C6-B9D127A1F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2094" y="1089212"/>
            <a:ext cx="8890094" cy="3993776"/>
          </a:xfrm>
        </p:spPr>
        <p:txBody>
          <a:bodyPr>
            <a:normAutofit/>
          </a:bodyPr>
          <a:lstStyle/>
          <a:p>
            <a:r>
              <a:rPr lang="en-US" dirty="0"/>
              <a:t>3 types of classification</a:t>
            </a:r>
          </a:p>
          <a:p>
            <a:r>
              <a:rPr lang="en-US" dirty="0"/>
              <a:t>Binary Classification – Simplest Form. Only 1s and 0s. Only used when the classification is between 2 categories.</a:t>
            </a:r>
          </a:p>
          <a:p>
            <a:r>
              <a:rPr lang="en-US" dirty="0"/>
              <a:t>Multiclass Classification – classifying data into 3 or more categories/classes. Each observation can only be in one of the categories. </a:t>
            </a:r>
          </a:p>
          <a:p>
            <a:r>
              <a:rPr lang="en-US" dirty="0"/>
              <a:t>Multilabel Classification – classifying data into 3 or more categories but each observation can be in 2 or more categories simultaneously and isn’t limited to only classifier.</a:t>
            </a:r>
          </a:p>
          <a:p>
            <a:r>
              <a:rPr lang="en-US" dirty="0"/>
              <a:t>Use techniques such as logistic regression, K-Nearest Neighbors (</a:t>
            </a:r>
            <a:r>
              <a:rPr lang="en-US" dirty="0" err="1"/>
              <a:t>kNN</a:t>
            </a:r>
            <a:r>
              <a:rPr lang="en-US" dirty="0"/>
              <a:t>) and Decision Trees </a:t>
            </a:r>
          </a:p>
        </p:txBody>
      </p:sp>
    </p:spTree>
    <p:extLst>
      <p:ext uri="{BB962C8B-B14F-4D97-AF65-F5344CB8AC3E}">
        <p14:creationId xmlns:p14="http://schemas.microsoft.com/office/powerpoint/2010/main" val="4206735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42BA6-1972-35C4-241A-84709BD0F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58856-15E0-8BF6-ADB9-A771DE4AA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977153"/>
            <a:ext cx="10369270" cy="3917576"/>
          </a:xfrm>
        </p:spPr>
        <p:txBody>
          <a:bodyPr/>
          <a:lstStyle/>
          <a:p>
            <a:r>
              <a:rPr lang="en-US" sz="2400" dirty="0"/>
              <a:t>Due to the data being used for classification being labeled, the AI learns less by itself. It is harder for it to adapt to changes with the training data – like changes in labels and categories. </a:t>
            </a:r>
          </a:p>
          <a:p>
            <a:r>
              <a:rPr lang="en-US" sz="2400" dirty="0"/>
              <a:t>Hard to fix error in category classification for the same. </a:t>
            </a:r>
          </a:p>
          <a:p>
            <a:r>
              <a:rPr lang="en-US" sz="2400" dirty="0"/>
              <a:t>Sometimes, the number of observations that can fit into a particular category is very, very less but still R says the accuracy is very high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174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A4EA7-4BF3-9E6A-C9B4-8A6C62623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68A09-16D4-99D5-E207-A5B35661D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961812" cy="4244788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ML technique used primarily in binary classification. Simplest technique used in classification. </a:t>
            </a:r>
          </a:p>
          <a:p>
            <a:r>
              <a:rPr lang="en-US" sz="2800" dirty="0"/>
              <a:t>Easy to interpret and understand</a:t>
            </a:r>
          </a:p>
          <a:p>
            <a:r>
              <a:rPr lang="en-US" sz="2800" dirty="0"/>
              <a:t>Finds the relationship between features and the probability of a particular outcome. Linear regression predicts a continuous value; logistic regression predicts the probability of belonging to a particular category (discrete variable)</a:t>
            </a:r>
          </a:p>
        </p:txBody>
      </p:sp>
    </p:spTree>
    <p:extLst>
      <p:ext uri="{BB962C8B-B14F-4D97-AF65-F5344CB8AC3E}">
        <p14:creationId xmlns:p14="http://schemas.microsoft.com/office/powerpoint/2010/main" val="3888099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C40D279-639C-C471-5771-B0FF42D5924E}"/>
              </a:ext>
            </a:extLst>
          </p:cNvPr>
          <p:cNvSpPr txBox="1"/>
          <p:nvPr/>
        </p:nvSpPr>
        <p:spPr>
          <a:xfrm>
            <a:off x="147718" y="88357"/>
            <a:ext cx="1183809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of climbers who attempted climbing to Mount Everest.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mspeed</a:t>
            </a:r>
            <a:r>
              <a:rPr lang="en-US" dirty="0"/>
              <a:t> is the measure of the speed of the climbers (continuous values)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o2used is the “yes” or “no” for whether supplemental oxygen was used during the climb or not (discrete values)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Success is the “yes” or “no” for whether they reached Mount Everest or died in the process (discrete values)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008687-A42E-D394-1965-0F1E82394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58" y="1842683"/>
            <a:ext cx="6370872" cy="1272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C6B3FB-2846-F918-D97F-DDC8D3F6CA0C}"/>
              </a:ext>
            </a:extLst>
          </p:cNvPr>
          <p:cNvSpPr txBox="1"/>
          <p:nvPr/>
        </p:nvSpPr>
        <p:spPr>
          <a:xfrm>
            <a:off x="6611670" y="1601061"/>
            <a:ext cx="41984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glm</a:t>
            </a:r>
            <a:r>
              <a:rPr lang="en-US" dirty="0"/>
              <a:t> (Generalized </a:t>
            </a:r>
            <a:r>
              <a:rPr lang="en-US"/>
              <a:t>linear model) is </a:t>
            </a:r>
            <a:r>
              <a:rPr lang="en-US" dirty="0"/>
              <a:t>used to allow for the family argument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“binomial” for family is a type of distribution which tells R that we are looking at the number of successes in a series of independent trials (each trial has 2 outcomes) – relevant for logistic regression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60701E2-D854-A35E-C336-7AF9915F3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6" y="3280969"/>
            <a:ext cx="3878916" cy="25910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D58E9D-2389-79C5-7E9E-582EFDB2DC63}"/>
              </a:ext>
            </a:extLst>
          </p:cNvPr>
          <p:cNvSpPr txBox="1"/>
          <p:nvPr/>
        </p:nvSpPr>
        <p:spPr>
          <a:xfrm>
            <a:off x="4316822" y="3280969"/>
            <a:ext cx="19632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the predicted probability values are between 0 and 1.</a:t>
            </a:r>
          </a:p>
        </p:txBody>
      </p:sp>
    </p:spTree>
    <p:extLst>
      <p:ext uri="{BB962C8B-B14F-4D97-AF65-F5344CB8AC3E}">
        <p14:creationId xmlns:p14="http://schemas.microsoft.com/office/powerpoint/2010/main" val="1413964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738C3E-A512-FF2B-919D-DBA95DA9D42B}"/>
              </a:ext>
            </a:extLst>
          </p:cNvPr>
          <p:cNvSpPr txBox="1"/>
          <p:nvPr/>
        </p:nvSpPr>
        <p:spPr>
          <a:xfrm>
            <a:off x="627529" y="2205318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FE7738-A743-9ED9-8EB0-25B1CDB29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11" y="302230"/>
            <a:ext cx="4275190" cy="13640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89BD09-C6E6-EE90-24B3-49B3D2D6F820}"/>
              </a:ext>
            </a:extLst>
          </p:cNvPr>
          <p:cNvSpPr txBox="1"/>
          <p:nvPr/>
        </p:nvSpPr>
        <p:spPr>
          <a:xfrm>
            <a:off x="7478503" y="2645441"/>
            <a:ext cx="29608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a “</a:t>
            </a:r>
            <a:r>
              <a:rPr lang="en-US" dirty="0" err="1"/>
              <a:t>HardProbability</a:t>
            </a:r>
            <a:r>
              <a:rPr lang="en-US" dirty="0"/>
              <a:t>” column in order to have simple 1s and 0s for the predicted probability.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1601ED-A8B7-8AC4-863B-7127EA39C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794" y="4197894"/>
            <a:ext cx="3330565" cy="175432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B67D7E8-E363-45F8-8CE2-3F3F42D0B5E4}"/>
              </a:ext>
            </a:extLst>
          </p:cNvPr>
          <p:cNvSpPr txBox="1"/>
          <p:nvPr/>
        </p:nvSpPr>
        <p:spPr>
          <a:xfrm>
            <a:off x="4643718" y="4751891"/>
            <a:ext cx="5199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Confusion matrix is a table that’s used to show the performance of the model by comparing its predicted values with the actual values.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60BD3B-B0BE-C53A-643E-AE79179C9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511" y="3142659"/>
            <a:ext cx="6850974" cy="7359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027F2B-D78D-2BBE-2E98-186B2F267A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0269" y="302230"/>
            <a:ext cx="5745978" cy="23014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9336BF-43D3-F581-ADDA-C05096B5D4F2}"/>
              </a:ext>
            </a:extLst>
          </p:cNvPr>
          <p:cNvSpPr txBox="1"/>
          <p:nvPr/>
        </p:nvSpPr>
        <p:spPr>
          <a:xfrm>
            <a:off x="240511" y="1909482"/>
            <a:ext cx="4107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Defining a threshold for what probability is considered as success or failure. </a:t>
            </a:r>
          </a:p>
        </p:txBody>
      </p:sp>
    </p:spTree>
    <p:extLst>
      <p:ext uri="{BB962C8B-B14F-4D97-AF65-F5344CB8AC3E}">
        <p14:creationId xmlns:p14="http://schemas.microsoft.com/office/powerpoint/2010/main" val="1116445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7E306C-D068-1F38-28B5-605B4BBF1F64}"/>
              </a:ext>
            </a:extLst>
          </p:cNvPr>
          <p:cNvSpPr txBox="1"/>
          <p:nvPr/>
        </p:nvSpPr>
        <p:spPr>
          <a:xfrm>
            <a:off x="618564" y="735106"/>
            <a:ext cx="726141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Classification metrics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confusion matrix gives the </a:t>
            </a:r>
            <a:r>
              <a:rPr lang="en-US" b="1" dirty="0"/>
              <a:t>Accuracy</a:t>
            </a:r>
            <a:r>
              <a:rPr lang="en-US" dirty="0"/>
              <a:t> of the predictions vs the actual values to be approximately 82%. Average of Sensitivity and Specificity.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tends to not always be true as the </a:t>
            </a:r>
            <a:r>
              <a:rPr lang="en-US" b="1" dirty="0"/>
              <a:t>Recall (Sensitivity) </a:t>
            </a:r>
            <a:r>
              <a:rPr lang="en-US" dirty="0"/>
              <a:t>which is the value for “out of all the actual positives, how many were predicted to be positives” was approximately 66%.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 was so high because </a:t>
            </a:r>
            <a:r>
              <a:rPr lang="en-US" b="1" dirty="0"/>
              <a:t>Specificity</a:t>
            </a:r>
            <a:r>
              <a:rPr lang="en-US" dirty="0"/>
              <a:t> – “out of all the actual negatives, how many were predicted to be negatives” was approximately 98%.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256A0-7B0D-6758-C65D-BF360EC3B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892" y="1057835"/>
            <a:ext cx="4294978" cy="25549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5CF7DB-434D-F22C-1884-52116D04C0F1}"/>
              </a:ext>
            </a:extLst>
          </p:cNvPr>
          <p:cNvSpPr txBox="1"/>
          <p:nvPr/>
        </p:nvSpPr>
        <p:spPr>
          <a:xfrm>
            <a:off x="7404847" y="3787587"/>
            <a:ext cx="38996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Accuracy is for overall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Sensitivity is only for 1 and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Specificity is only for 0 and 0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062EE9-79AE-148F-BC55-03886E803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24" y="4641152"/>
            <a:ext cx="5638477" cy="939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67C5D3-B891-859D-1A32-A61DE11744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9678" y="5361097"/>
            <a:ext cx="3797617" cy="76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951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619D40-2340-2DEA-9A56-0458DBC90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041" y="553442"/>
            <a:ext cx="5151566" cy="29720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E7E8BB-D113-28A9-85E9-F0AE361A5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9297" y="525668"/>
            <a:ext cx="3017782" cy="4038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D72952-1C7F-2A74-C11A-684765A55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9297" y="1123268"/>
            <a:ext cx="2979678" cy="3962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F0E56E-F286-80C3-ED97-F586787DE822}"/>
              </a:ext>
            </a:extLst>
          </p:cNvPr>
          <p:cNvSpPr txBox="1"/>
          <p:nvPr/>
        </p:nvSpPr>
        <p:spPr>
          <a:xfrm>
            <a:off x="5629835" y="3818965"/>
            <a:ext cx="579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a great curve.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accuracy should occupy more of the top left side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Area under ROC curve = accuracy = 82%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E21054-B7D1-3BD6-7A46-F571CBCA4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689" y="5035759"/>
            <a:ext cx="11319582" cy="15801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F63BF6C-6363-62CC-D983-8DF48DAE4AC6}"/>
              </a:ext>
            </a:extLst>
          </p:cNvPr>
          <p:cNvSpPr txBox="1"/>
          <p:nvPr/>
        </p:nvSpPr>
        <p:spPr>
          <a:xfrm>
            <a:off x="107312" y="1321405"/>
            <a:ext cx="42284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Classification Metric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to show the performance of a binary classifier model at varying thresholds. (so mainly only used in logistic regression)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9DE629-4549-00C0-4D27-96F758603679}"/>
              </a:ext>
            </a:extLst>
          </p:cNvPr>
          <p:cNvSpPr txBox="1"/>
          <p:nvPr/>
        </p:nvSpPr>
        <p:spPr>
          <a:xfrm>
            <a:off x="1144661" y="3166589"/>
            <a:ext cx="40996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Ideally line should be curved and occupy top left part of graph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thresholds should be used with more predictive variables</a:t>
            </a:r>
          </a:p>
        </p:txBody>
      </p:sp>
    </p:spTree>
    <p:extLst>
      <p:ext uri="{BB962C8B-B14F-4D97-AF65-F5344CB8AC3E}">
        <p14:creationId xmlns:p14="http://schemas.microsoft.com/office/powerpoint/2010/main" val="2528581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DC1D-78A0-2017-2FD3-C2DCF4338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530" y="2102721"/>
            <a:ext cx="8534400" cy="1507067"/>
          </a:xfrm>
        </p:spPr>
        <p:txBody>
          <a:bodyPr/>
          <a:lstStyle/>
          <a:p>
            <a:r>
              <a:rPr lang="en-US"/>
              <a:t>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219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D0228-860C-5AC2-26B9-8449E6C11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9607270" cy="1507067"/>
          </a:xfrm>
        </p:spPr>
        <p:txBody>
          <a:bodyPr>
            <a:normAutofit/>
          </a:bodyPr>
          <a:lstStyle/>
          <a:p>
            <a:r>
              <a:rPr lang="en-US" sz="2800" dirty="0"/>
              <a:t>Extra: Use of Classification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47B1A-E347-227D-CF5F-DA54B276C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800"/>
            <a:ext cx="9159035" cy="4199965"/>
          </a:xfrm>
        </p:spPr>
        <p:txBody>
          <a:bodyPr>
            <a:normAutofit/>
          </a:bodyPr>
          <a:lstStyle/>
          <a:p>
            <a:r>
              <a:rPr lang="en-US" dirty="0"/>
              <a:t>Image and strings/statements processing can be used to solve/help solve daily real world problems. </a:t>
            </a:r>
          </a:p>
          <a:p>
            <a:r>
              <a:rPr lang="en-US" dirty="0"/>
              <a:t>One such problem is distracted driving where people get into car accidents simply because of being distracted whether it is by falling asleep or looking at the phone.</a:t>
            </a:r>
          </a:p>
          <a:p>
            <a:r>
              <a:rPr lang="en-US" dirty="0"/>
              <a:t>AI classification model can be trained with training datasets and tested with testing datasets filled with images of drivers sleeping/using phone/other distractions. AI can then learn how to classify each type of distraction into its own category. </a:t>
            </a:r>
          </a:p>
          <a:p>
            <a:r>
              <a:rPr lang="en-US" dirty="0"/>
              <a:t>Then, the model could sound a buzzer or an automated voice message to alert the driver to not be distracted based on the category of the distraction. </a:t>
            </a:r>
          </a:p>
        </p:txBody>
      </p:sp>
    </p:spTree>
    <p:extLst>
      <p:ext uri="{BB962C8B-B14F-4D97-AF65-F5344CB8AC3E}">
        <p14:creationId xmlns:p14="http://schemas.microsoft.com/office/powerpoint/2010/main" val="1203046346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2566</TotalTime>
  <Words>986</Words>
  <Application>Microsoft Office PowerPoint</Application>
  <PresentationFormat>Widescreen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Slice</vt:lpstr>
      <vt:lpstr>Machine Learning - Classification</vt:lpstr>
      <vt:lpstr>Intro to ML</vt:lpstr>
      <vt:lpstr>Supervised Learning vs Unsupervised Learning</vt:lpstr>
      <vt:lpstr>Classification</vt:lpstr>
      <vt:lpstr>Types of Classification</vt:lpstr>
      <vt:lpstr>Challenges in Classification</vt:lpstr>
      <vt:lpstr>Logistic Regression</vt:lpstr>
      <vt:lpstr>PowerPoint Presentation</vt:lpstr>
      <vt:lpstr>PowerPoint Presentation</vt:lpstr>
      <vt:lpstr>PowerPoint Presentation</vt:lpstr>
      <vt:lpstr>PowerPoint Presentation</vt:lpstr>
      <vt:lpstr>Thank you!</vt:lpstr>
      <vt:lpstr>Extra: Use of Classification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Arnav Amit Khetan</dc:creator>
  <cp:lastModifiedBy>Arnav Amit Khetan</cp:lastModifiedBy>
  <cp:revision>68</cp:revision>
  <dcterms:created xsi:type="dcterms:W3CDTF">2023-11-16T20:42:08Z</dcterms:created>
  <dcterms:modified xsi:type="dcterms:W3CDTF">2023-12-07T21:42:10Z</dcterms:modified>
</cp:coreProperties>
</file>